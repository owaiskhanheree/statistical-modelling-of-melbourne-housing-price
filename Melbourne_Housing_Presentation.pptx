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Futura" panose="020B0602020204020303" pitchFamily="34" charset="-79"/>
      <p:regular r:id="rId22"/>
    </p:embeddedFont>
    <p:embeddedFont>
      <p:font typeface="Futura Bold" panose="020B0602020204020303" pitchFamily="34" charset="-79"/>
      <p:regular r:id="rId23"/>
      <p:italic r:id="rId24"/>
      <p:boldItalic r:id="rId25"/>
    </p:embeddedFont>
    <p:embeddedFont>
      <p:font typeface="League Spartan" pitchFamily="2" charset="7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629" autoAdjust="0"/>
  </p:normalViewPr>
  <p:slideViewPr>
    <p:cSldViewPr>
      <p:cViewPr varScale="1">
        <p:scale>
          <a:sx n="100" d="100"/>
          <a:sy n="100" d="100"/>
        </p:scale>
        <p:origin x="18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.png"/><Relationship Id="rId17" Type="http://schemas.openxmlformats.org/officeDocument/2006/relationships/image" Target="../media/image10.svg"/><Relationship Id="rId2" Type="http://schemas.openxmlformats.org/officeDocument/2006/relationships/image" Target="../media/image1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1349788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143526" y="7597308"/>
            <a:ext cx="8233265" cy="8233265"/>
          </a:xfrm>
          <a:custGeom>
            <a:avLst/>
            <a:gdLst/>
            <a:ahLst/>
            <a:cxnLst/>
            <a:rect l="l" t="t" r="r" b="b"/>
            <a:pathLst>
              <a:path w="8233265" h="8233265">
                <a:moveTo>
                  <a:pt x="0" y="0"/>
                </a:moveTo>
                <a:lnTo>
                  <a:pt x="8233265" y="0"/>
                </a:lnTo>
                <a:lnTo>
                  <a:pt x="8233265" y="8233265"/>
                </a:lnTo>
                <a:lnTo>
                  <a:pt x="0" y="8233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80388" y="1346208"/>
            <a:ext cx="1740378" cy="1769331"/>
          </a:xfrm>
          <a:custGeom>
            <a:avLst/>
            <a:gdLst/>
            <a:ahLst/>
            <a:cxnLst/>
            <a:rect l="l" t="t" r="r" b="b"/>
            <a:pathLst>
              <a:path w="1740378" h="1769331">
                <a:moveTo>
                  <a:pt x="0" y="0"/>
                </a:moveTo>
                <a:lnTo>
                  <a:pt x="1740378" y="0"/>
                </a:lnTo>
                <a:lnTo>
                  <a:pt x="1740378" y="1769331"/>
                </a:lnTo>
                <a:lnTo>
                  <a:pt x="0" y="1769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448701" y="6288865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62396" y="2629853"/>
            <a:ext cx="9639412" cy="540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1"/>
              </a:lnSpc>
            </a:pPr>
            <a:r>
              <a:rPr lang="en-US" sz="8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Modeling Housing Price Movements in Melbourne</a:t>
            </a:r>
          </a:p>
        </p:txBody>
      </p:sp>
      <p:sp>
        <p:nvSpPr>
          <p:cNvPr id="8" name="AutoShape 8"/>
          <p:cNvSpPr/>
          <p:nvPr/>
        </p:nvSpPr>
        <p:spPr>
          <a:xfrm>
            <a:off x="1592828" y="1346208"/>
            <a:ext cx="2494042" cy="0"/>
          </a:xfrm>
          <a:prstGeom prst="line">
            <a:avLst/>
          </a:prstGeom>
          <a:ln w="6477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0235" y="1111258"/>
            <a:ext cx="2099228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Let's 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4561182" y="2788742"/>
            <a:ext cx="4709517" cy="4709517"/>
          </a:xfrm>
          <a:custGeom>
            <a:avLst/>
            <a:gdLst/>
            <a:ahLst/>
            <a:cxnLst/>
            <a:rect l="l" t="t" r="r" b="b"/>
            <a:pathLst>
              <a:path w="4709517" h="4709517">
                <a:moveTo>
                  <a:pt x="0" y="0"/>
                </a:moveTo>
                <a:lnTo>
                  <a:pt x="4709517" y="0"/>
                </a:lnTo>
                <a:lnTo>
                  <a:pt x="4709517" y="4709516"/>
                </a:lnTo>
                <a:lnTo>
                  <a:pt x="0" y="4709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788742"/>
            <a:ext cx="4709517" cy="4709517"/>
          </a:xfrm>
          <a:custGeom>
            <a:avLst/>
            <a:gdLst/>
            <a:ahLst/>
            <a:cxnLst/>
            <a:rect l="l" t="t" r="r" b="b"/>
            <a:pathLst>
              <a:path w="4709517" h="4709517">
                <a:moveTo>
                  <a:pt x="0" y="0"/>
                </a:moveTo>
                <a:lnTo>
                  <a:pt x="4709517" y="0"/>
                </a:lnTo>
                <a:lnTo>
                  <a:pt x="4709517" y="4709516"/>
                </a:lnTo>
                <a:lnTo>
                  <a:pt x="0" y="4709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9474040"/>
            <a:ext cx="18288000" cy="5657850"/>
            <a:chOff x="0" y="0"/>
            <a:chExt cx="6186311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86311" cy="1913890"/>
            </a:xfrm>
            <a:custGeom>
              <a:avLst/>
              <a:gdLst/>
              <a:ahLst/>
              <a:cxnLst/>
              <a:rect l="l" t="t" r="r" b="b"/>
              <a:pathLst>
                <a:path w="6186311" h="1913890">
                  <a:moveTo>
                    <a:pt x="0" y="0"/>
                  </a:moveTo>
                  <a:lnTo>
                    <a:pt x="6186311" y="0"/>
                  </a:lnTo>
                  <a:lnTo>
                    <a:pt x="618631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46071" y="1000125"/>
            <a:ext cx="7363548" cy="2286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0"/>
              </a:lnSpc>
            </a:pPr>
            <a:r>
              <a:rPr lang="en-US" sz="7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81048" y="4668248"/>
            <a:ext cx="1196092" cy="63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40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81048" y="6119739"/>
            <a:ext cx="1196092" cy="63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40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81048" y="7638781"/>
            <a:ext cx="1196092" cy="63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40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10" name="AutoShape 10"/>
          <p:cNvSpPr/>
          <p:nvPr/>
        </p:nvSpPr>
        <p:spPr>
          <a:xfrm rot="5207">
            <a:off x="10246088" y="3617655"/>
            <a:ext cx="943282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077140" y="4700863"/>
            <a:ext cx="653247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Krishna Bisoi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77140" y="6152354"/>
            <a:ext cx="653247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Satyaki Mitra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77140" y="7603845"/>
            <a:ext cx="653247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Muhammad Owais Khan</a:t>
            </a:r>
          </a:p>
        </p:txBody>
      </p:sp>
      <p:sp>
        <p:nvSpPr>
          <p:cNvPr id="14" name="Freeform 14"/>
          <p:cNvSpPr/>
          <p:nvPr/>
        </p:nvSpPr>
        <p:spPr>
          <a:xfrm rot="5400000">
            <a:off x="1152055" y="1915434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5"/>
                </a:lnTo>
                <a:lnTo>
                  <a:pt x="0" y="1746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-1799999">
            <a:off x="4609275" y="7242177"/>
            <a:ext cx="4019073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91292" y="3810192"/>
            <a:ext cx="16073566" cy="8453182"/>
          </a:xfrm>
          <a:custGeom>
            <a:avLst/>
            <a:gdLst/>
            <a:ahLst/>
            <a:cxnLst/>
            <a:rect l="l" t="t" r="r" b="b"/>
            <a:pathLst>
              <a:path w="16073566" h="8453182">
                <a:moveTo>
                  <a:pt x="0" y="0"/>
                </a:moveTo>
                <a:lnTo>
                  <a:pt x="16073566" y="0"/>
                </a:lnTo>
                <a:lnTo>
                  <a:pt x="16073566" y="8453182"/>
                </a:lnTo>
                <a:lnTo>
                  <a:pt x="0" y="8453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01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76400" y="6050973"/>
            <a:ext cx="5340685" cy="127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5"/>
              </a:lnSpc>
            </a:pPr>
            <a:r>
              <a:rPr lang="en-US" sz="8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Contents</a:t>
            </a:r>
          </a:p>
        </p:txBody>
      </p:sp>
      <p:sp>
        <p:nvSpPr>
          <p:cNvPr id="4" name="Freeform 4"/>
          <p:cNvSpPr/>
          <p:nvPr/>
        </p:nvSpPr>
        <p:spPr>
          <a:xfrm>
            <a:off x="15759394" y="1028700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144000" y="3748780"/>
            <a:ext cx="8830925" cy="515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Introduction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Research questions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General analysis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Model selection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Residual analysis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Model transformation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Solution</a:t>
            </a:r>
          </a:p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Conclusion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9144000" y="8905615"/>
            <a:ext cx="649224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3728645">
            <a:off x="2552700" y="-2496200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8"/>
                </a:lnTo>
                <a:lnTo>
                  <a:pt x="0" y="6303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0266" y="3897292"/>
            <a:ext cx="1094470" cy="1094470"/>
          </a:xfrm>
          <a:custGeom>
            <a:avLst/>
            <a:gdLst/>
            <a:ahLst/>
            <a:cxnLst/>
            <a:rect l="l" t="t" r="r" b="b"/>
            <a:pathLst>
              <a:path w="1094470" h="1094470">
                <a:moveTo>
                  <a:pt x="0" y="0"/>
                </a:moveTo>
                <a:lnTo>
                  <a:pt x="1094470" y="0"/>
                </a:lnTo>
                <a:lnTo>
                  <a:pt x="1094470" y="1094469"/>
                </a:lnTo>
                <a:lnTo>
                  <a:pt x="0" y="1094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808746" y="3897292"/>
            <a:ext cx="1213483" cy="1213483"/>
          </a:xfrm>
          <a:custGeom>
            <a:avLst/>
            <a:gdLst/>
            <a:ahLst/>
            <a:cxnLst/>
            <a:rect l="l" t="t" r="r" b="b"/>
            <a:pathLst>
              <a:path w="1213483" h="1213483">
                <a:moveTo>
                  <a:pt x="0" y="0"/>
                </a:moveTo>
                <a:lnTo>
                  <a:pt x="1213483" y="0"/>
                </a:lnTo>
                <a:lnTo>
                  <a:pt x="1213483" y="1213483"/>
                </a:lnTo>
                <a:lnTo>
                  <a:pt x="0" y="121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461896" y="7113485"/>
            <a:ext cx="1842257" cy="994819"/>
          </a:xfrm>
          <a:custGeom>
            <a:avLst/>
            <a:gdLst/>
            <a:ahLst/>
            <a:cxnLst/>
            <a:rect l="l" t="t" r="r" b="b"/>
            <a:pathLst>
              <a:path w="1842257" h="994819">
                <a:moveTo>
                  <a:pt x="0" y="0"/>
                </a:moveTo>
                <a:lnTo>
                  <a:pt x="1842257" y="0"/>
                </a:lnTo>
                <a:lnTo>
                  <a:pt x="1842257" y="994818"/>
                </a:lnTo>
                <a:lnTo>
                  <a:pt x="0" y="994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39612" y="7000522"/>
            <a:ext cx="817898" cy="1220743"/>
          </a:xfrm>
          <a:custGeom>
            <a:avLst/>
            <a:gdLst/>
            <a:ahLst/>
            <a:cxnLst/>
            <a:rect l="l" t="t" r="r" b="b"/>
            <a:pathLst>
              <a:path w="817898" h="1220743">
                <a:moveTo>
                  <a:pt x="0" y="0"/>
                </a:moveTo>
                <a:lnTo>
                  <a:pt x="817898" y="0"/>
                </a:lnTo>
                <a:lnTo>
                  <a:pt x="817898" y="1220743"/>
                </a:lnTo>
                <a:lnTo>
                  <a:pt x="0" y="12207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775794" y="1839398"/>
            <a:ext cx="10736412" cy="1059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9"/>
              </a:lnSpc>
            </a:pPr>
            <a:r>
              <a:rPr lang="en-US" sz="690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4512206" y="334467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3" y="0"/>
                </a:lnTo>
                <a:lnTo>
                  <a:pt x="10959213" y="10959214"/>
                </a:lnTo>
                <a:lnTo>
                  <a:pt x="0" y="10959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642726" y="-183004"/>
            <a:ext cx="6783048" cy="6783048"/>
          </a:xfrm>
          <a:custGeom>
            <a:avLst/>
            <a:gdLst/>
            <a:ahLst/>
            <a:cxnLst/>
            <a:rect l="l" t="t" r="r" b="b"/>
            <a:pathLst>
              <a:path w="6783048" h="6783048">
                <a:moveTo>
                  <a:pt x="0" y="0"/>
                </a:moveTo>
                <a:lnTo>
                  <a:pt x="6783048" y="0"/>
                </a:lnTo>
                <a:lnTo>
                  <a:pt x="6783048" y="6783048"/>
                </a:lnTo>
                <a:lnTo>
                  <a:pt x="0" y="6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9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5392964" y="1171304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1" y="0"/>
                </a:lnTo>
                <a:lnTo>
                  <a:pt x="2387901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400000">
            <a:off x="-87868" y="8394343"/>
            <a:ext cx="1986022" cy="2312689"/>
          </a:xfrm>
          <a:custGeom>
            <a:avLst/>
            <a:gdLst/>
            <a:ahLst/>
            <a:cxnLst/>
            <a:rect l="l" t="t" r="r" b="b"/>
            <a:pathLst>
              <a:path w="1986022" h="2312689">
                <a:moveTo>
                  <a:pt x="0" y="0"/>
                </a:moveTo>
                <a:lnTo>
                  <a:pt x="1986022" y="0"/>
                </a:lnTo>
                <a:lnTo>
                  <a:pt x="1986022" y="2312690"/>
                </a:lnTo>
                <a:lnTo>
                  <a:pt x="0" y="2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060989" y="5260281"/>
            <a:ext cx="4498547" cy="109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House prices surged dramatically in 2017!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87331" y="5260281"/>
            <a:ext cx="5614469" cy="1021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Interest rates hit rock-bottom, making loans cheaper.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68056" y="8228956"/>
            <a:ext cx="4084414" cy="160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After a boom, the market cooled down in 2018.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5657" y="8228956"/>
            <a:ext cx="4645807" cy="160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Melbourne’s home prices soared to new heights by 2018.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84596">
            <a:off x="9094599" y="-773690"/>
            <a:ext cx="12484703" cy="12484703"/>
          </a:xfrm>
          <a:custGeom>
            <a:avLst/>
            <a:gdLst/>
            <a:ahLst/>
            <a:cxnLst/>
            <a:rect l="l" t="t" r="r" b="b"/>
            <a:pathLst>
              <a:path w="12484703" h="12484703">
                <a:moveTo>
                  <a:pt x="0" y="0"/>
                </a:moveTo>
                <a:lnTo>
                  <a:pt x="12484702" y="0"/>
                </a:lnTo>
                <a:lnTo>
                  <a:pt x="12484702" y="12484702"/>
                </a:lnTo>
                <a:lnTo>
                  <a:pt x="0" y="12484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21280"/>
            <a:ext cx="6621529" cy="548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200 random records/8000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Price (Dependent Variable)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House Type 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Number of rooms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Number of bedrooms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Number of bathrooms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Parking space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Land size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area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Distance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14904754" y="459747"/>
            <a:ext cx="1721740" cy="2004938"/>
          </a:xfrm>
          <a:custGeom>
            <a:avLst/>
            <a:gdLst/>
            <a:ahLst/>
            <a:cxnLst/>
            <a:rect l="l" t="t" r="r" b="b"/>
            <a:pathLst>
              <a:path w="1721740" h="2004938">
                <a:moveTo>
                  <a:pt x="0" y="0"/>
                </a:moveTo>
                <a:lnTo>
                  <a:pt x="1721741" y="0"/>
                </a:lnTo>
                <a:lnTo>
                  <a:pt x="1721741" y="2004938"/>
                </a:lnTo>
                <a:lnTo>
                  <a:pt x="0" y="200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-1524000" y="8086283"/>
            <a:ext cx="9432810" cy="1428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019175"/>
            <a:ext cx="10736412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9"/>
              </a:lnSpc>
            </a:pPr>
            <a:r>
              <a:rPr lang="en-US" sz="690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7484481" y="3810192"/>
            <a:ext cx="16073566" cy="8453182"/>
          </a:xfrm>
          <a:custGeom>
            <a:avLst/>
            <a:gdLst/>
            <a:ahLst/>
            <a:cxnLst/>
            <a:rect l="l" t="t" r="r" b="b"/>
            <a:pathLst>
              <a:path w="16073566" h="8453182">
                <a:moveTo>
                  <a:pt x="0" y="8453182"/>
                </a:moveTo>
                <a:lnTo>
                  <a:pt x="16073567" y="8453182"/>
                </a:lnTo>
                <a:lnTo>
                  <a:pt x="16073567" y="0"/>
                </a:lnTo>
                <a:lnTo>
                  <a:pt x="0" y="0"/>
                </a:lnTo>
                <a:lnTo>
                  <a:pt x="0" y="8453182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01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52943" y="2121254"/>
            <a:ext cx="9975467" cy="105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6"/>
              </a:lnSpc>
            </a:pPr>
            <a:r>
              <a:rPr lang="en-US" sz="68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Questions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15759394" y="393689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5"/>
                </a:lnTo>
                <a:lnTo>
                  <a:pt x="0" y="174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3728645">
            <a:off x="9132897" y="8931052"/>
            <a:ext cx="5090111" cy="5090111"/>
          </a:xfrm>
          <a:custGeom>
            <a:avLst/>
            <a:gdLst/>
            <a:ahLst/>
            <a:cxnLst/>
            <a:rect l="l" t="t" r="r" b="b"/>
            <a:pathLst>
              <a:path w="5090111" h="5090111">
                <a:moveTo>
                  <a:pt x="0" y="0"/>
                </a:moveTo>
                <a:lnTo>
                  <a:pt x="5090110" y="0"/>
                </a:lnTo>
                <a:lnTo>
                  <a:pt x="5090110" y="5090111"/>
                </a:lnTo>
                <a:lnTo>
                  <a:pt x="0" y="5090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52943" y="3688149"/>
            <a:ext cx="842022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Which model will be best to predict house prices?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2083386" y="6929278"/>
            <a:ext cx="413551" cy="4580320"/>
            <a:chOff x="0" y="0"/>
            <a:chExt cx="2354580" cy="260783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310" cy="26078362"/>
            </a:xfrm>
            <a:custGeom>
              <a:avLst/>
              <a:gdLst/>
              <a:ahLst/>
              <a:cxnLst/>
              <a:rect l="l" t="t" r="r" b="b"/>
              <a:pathLst>
                <a:path w="2353310" h="26078362">
                  <a:moveTo>
                    <a:pt x="784860" y="26011054"/>
                  </a:moveTo>
                  <a:cubicBezTo>
                    <a:pt x="905510" y="26051694"/>
                    <a:pt x="1042670" y="26078362"/>
                    <a:pt x="1177290" y="26078362"/>
                  </a:cubicBezTo>
                  <a:cubicBezTo>
                    <a:pt x="1311910" y="26078362"/>
                    <a:pt x="1441450" y="26055504"/>
                    <a:pt x="1560830" y="26014862"/>
                  </a:cubicBezTo>
                  <a:cubicBezTo>
                    <a:pt x="1563370" y="26013594"/>
                    <a:pt x="1565910" y="26013594"/>
                    <a:pt x="1568450" y="26012322"/>
                  </a:cubicBezTo>
                  <a:cubicBezTo>
                    <a:pt x="2016760" y="25849763"/>
                    <a:pt x="2346960" y="25420503"/>
                    <a:pt x="2353310" y="2484744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4828316"/>
                  </a:lnTo>
                  <a:cubicBezTo>
                    <a:pt x="6350" y="25423042"/>
                    <a:pt x="331470" y="25852303"/>
                    <a:pt x="784860" y="2601105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52942" y="4611313"/>
            <a:ext cx="8695857" cy="483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How do room count and city distance affect prices?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943" y="5539048"/>
            <a:ext cx="842022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Do property types show different pricing patterns?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2943" y="6466783"/>
            <a:ext cx="842022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How does bathroom count influence prices?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2943" y="7394518"/>
            <a:ext cx="10541731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Is there an interaction between room count and property region?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rot="7159567">
            <a:off x="-4922542" y="-4018319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2"/>
                </a:lnTo>
                <a:lnTo>
                  <a:pt x="0" y="81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47800" y="2386699"/>
            <a:ext cx="14593708" cy="115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Room Features Matter: </a:t>
            </a: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Room count, bedrooms, bathrooms, parking, and building area show strong ties to price.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3841940"/>
            <a:ext cx="15423092" cy="526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 Boost: </a:t>
            </a: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Bathrooms have a solid 0.59 correlation with price.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4752530"/>
            <a:ext cx="16108892" cy="526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Model Power: </a:t>
            </a: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full model explains 88% of price variation (R² = 0.88)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2392" y="1019175"/>
            <a:ext cx="8524474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General Analysis</a:t>
            </a:r>
          </a:p>
        </p:txBody>
      </p:sp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493371" y="5991974"/>
            <a:ext cx="11301259" cy="3898934"/>
          </a:xfrm>
          <a:custGeom>
            <a:avLst/>
            <a:gdLst/>
            <a:ahLst/>
            <a:cxnLst/>
            <a:rect l="l" t="t" r="r" b="b"/>
            <a:pathLst>
              <a:path w="11301259" h="3898934">
                <a:moveTo>
                  <a:pt x="0" y="0"/>
                </a:moveTo>
                <a:lnTo>
                  <a:pt x="11301258" y="0"/>
                </a:lnTo>
                <a:lnTo>
                  <a:pt x="11301258" y="3898934"/>
                </a:lnTo>
                <a:lnTo>
                  <a:pt x="0" y="38989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92392" y="1019175"/>
            <a:ext cx="8524474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Plot</a:t>
            </a:r>
          </a:p>
        </p:txBody>
      </p:sp>
      <p:sp>
        <p:nvSpPr>
          <p:cNvPr id="4" name="Freeform 4"/>
          <p:cNvSpPr/>
          <p:nvPr/>
        </p:nvSpPr>
        <p:spPr>
          <a:xfrm rot="7159567">
            <a:off x="-3736770" y="6621759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917737" y="2701204"/>
            <a:ext cx="15073784" cy="6557096"/>
          </a:xfrm>
          <a:custGeom>
            <a:avLst/>
            <a:gdLst/>
            <a:ahLst/>
            <a:cxnLst/>
            <a:rect l="l" t="t" r="r" b="b"/>
            <a:pathLst>
              <a:path w="15073784" h="6557096">
                <a:moveTo>
                  <a:pt x="0" y="0"/>
                </a:moveTo>
                <a:lnTo>
                  <a:pt x="15073784" y="0"/>
                </a:lnTo>
                <a:lnTo>
                  <a:pt x="15073784" y="6557096"/>
                </a:lnTo>
                <a:lnTo>
                  <a:pt x="0" y="6557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451331" y="2363452"/>
            <a:ext cx="9385338" cy="7132857"/>
          </a:xfrm>
          <a:custGeom>
            <a:avLst/>
            <a:gdLst/>
            <a:ahLst/>
            <a:cxnLst/>
            <a:rect l="l" t="t" r="r" b="b"/>
            <a:pathLst>
              <a:path w="9385338" h="7132857">
                <a:moveTo>
                  <a:pt x="0" y="0"/>
                </a:moveTo>
                <a:lnTo>
                  <a:pt x="9385338" y="0"/>
                </a:lnTo>
                <a:lnTo>
                  <a:pt x="9385338" y="7132858"/>
                </a:lnTo>
                <a:lnTo>
                  <a:pt x="0" y="7132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Interaction vs. Additive</a:t>
            </a:r>
          </a:p>
        </p:txBody>
      </p:sp>
      <p:sp>
        <p:nvSpPr>
          <p:cNvPr id="6" name="Freeform 6"/>
          <p:cNvSpPr/>
          <p:nvPr/>
        </p:nvSpPr>
        <p:spPr>
          <a:xfrm rot="7159567">
            <a:off x="14969532" y="-3570143"/>
            <a:ext cx="7313912" cy="7313912"/>
          </a:xfrm>
          <a:custGeom>
            <a:avLst/>
            <a:gdLst/>
            <a:ahLst/>
            <a:cxnLst/>
            <a:rect l="l" t="t" r="r" b="b"/>
            <a:pathLst>
              <a:path w="7313912" h="7313912">
                <a:moveTo>
                  <a:pt x="0" y="0"/>
                </a:moveTo>
                <a:lnTo>
                  <a:pt x="7313912" y="0"/>
                </a:lnTo>
                <a:lnTo>
                  <a:pt x="7313912" y="7313912"/>
                </a:lnTo>
                <a:lnTo>
                  <a:pt x="0" y="7313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Interaction vs. Additive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5639" y="2694609"/>
            <a:ext cx="14593708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Interaction Model: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Room count impact varies by location.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5638" y="3704488"/>
            <a:ext cx="15534161" cy="526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Southern Metro: </a:t>
            </a: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More rooms = bigger price jump in Southern Metro.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5639" y="4710328"/>
            <a:ext cx="14593708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Additive Model: 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Room effect is the same, no matter the location.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5639" y="5736857"/>
            <a:ext cx="14593708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Flexibility: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Interaction Model is flexible; Additive is simpler.</a:t>
            </a:r>
          </a:p>
        </p:txBody>
      </p:sp>
      <p:sp>
        <p:nvSpPr>
          <p:cNvPr id="9" name="Freeform 9"/>
          <p:cNvSpPr/>
          <p:nvPr/>
        </p:nvSpPr>
        <p:spPr>
          <a:xfrm rot="7159567">
            <a:off x="13707812" y="7020299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7159567">
            <a:off x="4779158" y="-5162952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090459" y="2138843"/>
          <a:ext cx="14107082" cy="6638505"/>
        </p:xfrm>
        <a:graphic>
          <a:graphicData uri="http://schemas.openxmlformats.org/drawingml/2006/table">
            <a:tbl>
              <a:tblPr/>
              <a:tblGrid>
                <a:gridCol w="244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5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61537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Selection Process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AIC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R2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Code Output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532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Backward elemination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5166.8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36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Forward selection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5093.2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128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5058.61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8700394" y="3934554"/>
            <a:ext cx="7058318" cy="1112749"/>
          </a:xfrm>
          <a:custGeom>
            <a:avLst/>
            <a:gdLst/>
            <a:ahLst/>
            <a:cxnLst/>
            <a:rect l="l" t="t" r="r" b="b"/>
            <a:pathLst>
              <a:path w="7058318" h="1112749">
                <a:moveTo>
                  <a:pt x="0" y="0"/>
                </a:moveTo>
                <a:lnTo>
                  <a:pt x="7058318" y="0"/>
                </a:lnTo>
                <a:lnTo>
                  <a:pt x="7058318" y="1112749"/>
                </a:lnTo>
                <a:lnTo>
                  <a:pt x="0" y="11127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700394" y="7221416"/>
            <a:ext cx="7058318" cy="1279320"/>
          </a:xfrm>
          <a:custGeom>
            <a:avLst/>
            <a:gdLst/>
            <a:ahLst/>
            <a:cxnLst/>
            <a:rect l="l" t="t" r="r" b="b"/>
            <a:pathLst>
              <a:path w="7058318" h="1279320">
                <a:moveTo>
                  <a:pt x="0" y="0"/>
                </a:moveTo>
                <a:lnTo>
                  <a:pt x="7058318" y="0"/>
                </a:lnTo>
                <a:lnTo>
                  <a:pt x="7058318" y="1279320"/>
                </a:lnTo>
                <a:lnTo>
                  <a:pt x="0" y="12793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700394" y="5620577"/>
            <a:ext cx="7058318" cy="809631"/>
          </a:xfrm>
          <a:custGeom>
            <a:avLst/>
            <a:gdLst/>
            <a:ahLst/>
            <a:cxnLst/>
            <a:rect l="l" t="t" r="r" b="b"/>
            <a:pathLst>
              <a:path w="7058318" h="809631">
                <a:moveTo>
                  <a:pt x="0" y="0"/>
                </a:moveTo>
                <a:lnTo>
                  <a:pt x="7058318" y="0"/>
                </a:lnTo>
                <a:lnTo>
                  <a:pt x="7058318" y="809630"/>
                </a:lnTo>
                <a:lnTo>
                  <a:pt x="0" y="809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Selection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562330">
            <a:off x="15020400" y="232046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788009" y="2084316"/>
            <a:ext cx="6471291" cy="4165894"/>
          </a:xfrm>
          <a:custGeom>
            <a:avLst/>
            <a:gdLst/>
            <a:ahLst/>
            <a:cxnLst/>
            <a:rect l="l" t="t" r="r" b="b"/>
            <a:pathLst>
              <a:path w="6471291" h="4165894">
                <a:moveTo>
                  <a:pt x="0" y="0"/>
                </a:moveTo>
                <a:lnTo>
                  <a:pt x="6471291" y="0"/>
                </a:lnTo>
                <a:lnTo>
                  <a:pt x="6471291" y="4165893"/>
                </a:lnTo>
                <a:lnTo>
                  <a:pt x="0" y="416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59294" y="6501891"/>
            <a:ext cx="5928720" cy="3664947"/>
          </a:xfrm>
          <a:custGeom>
            <a:avLst/>
            <a:gdLst/>
            <a:ahLst/>
            <a:cxnLst/>
            <a:rect l="l" t="t" r="r" b="b"/>
            <a:pathLst>
              <a:path w="5928720" h="3664947">
                <a:moveTo>
                  <a:pt x="0" y="0"/>
                </a:moveTo>
                <a:lnTo>
                  <a:pt x="5928721" y="0"/>
                </a:lnTo>
                <a:lnTo>
                  <a:pt x="5928721" y="3664948"/>
                </a:lnTo>
                <a:lnTo>
                  <a:pt x="0" y="366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38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14963" y="622346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Residual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2852" y="2148439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Normality Assumption Check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Good Normality: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Residuals follow the red line in the center (between -1 and +1).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Left Tail: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Negative residuals deviate below the line (heavy lower tail).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Right Tail: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Positive residuals deviate above the line (heavy upper tail).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2852" y="6574383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Linearity Assumption Check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Linearity Violation: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Mild deviation from the linearity assumption.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Heteroscedasticity: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Residual spread increases with fitted values.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Influential Outliers: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Outliers may be impacting model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059294" y="2009567"/>
            <a:ext cx="6852872" cy="4164663"/>
          </a:xfrm>
          <a:custGeom>
            <a:avLst/>
            <a:gdLst/>
            <a:ahLst/>
            <a:cxnLst/>
            <a:rect l="l" t="t" r="r" b="b"/>
            <a:pathLst>
              <a:path w="6852872" h="4164663">
                <a:moveTo>
                  <a:pt x="0" y="0"/>
                </a:moveTo>
                <a:lnTo>
                  <a:pt x="6852872" y="0"/>
                </a:lnTo>
                <a:lnTo>
                  <a:pt x="6852872" y="4164663"/>
                </a:lnTo>
                <a:lnTo>
                  <a:pt x="0" y="4164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78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399999">
            <a:off x="-4571437" y="1553082"/>
            <a:ext cx="7940516" cy="7940516"/>
          </a:xfrm>
          <a:custGeom>
            <a:avLst/>
            <a:gdLst/>
            <a:ahLst/>
            <a:cxnLst/>
            <a:rect l="l" t="t" r="r" b="b"/>
            <a:pathLst>
              <a:path w="7940516" h="7940516">
                <a:moveTo>
                  <a:pt x="0" y="0"/>
                </a:moveTo>
                <a:lnTo>
                  <a:pt x="7940516" y="0"/>
                </a:lnTo>
                <a:lnTo>
                  <a:pt x="7940516" y="7940517"/>
                </a:lnTo>
                <a:lnTo>
                  <a:pt x="0" y="79405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62852" y="2148439"/>
            <a:ext cx="10198063" cy="303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Homoscedasticity Assumption Check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Heteroscedasticity: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Residual variability increases with fitted values.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Left Tail: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Negative residuals deviate below the line (heavy lower tail).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Outliers: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Potential outliers observed in the plot.</a:t>
            </a:r>
          </a:p>
        </p:txBody>
      </p:sp>
      <p:sp>
        <p:nvSpPr>
          <p:cNvPr id="6" name="Freeform 6"/>
          <p:cNvSpPr/>
          <p:nvPr/>
        </p:nvSpPr>
        <p:spPr>
          <a:xfrm>
            <a:off x="11059294" y="6408273"/>
            <a:ext cx="5596478" cy="3700671"/>
          </a:xfrm>
          <a:custGeom>
            <a:avLst/>
            <a:gdLst/>
            <a:ahLst/>
            <a:cxnLst/>
            <a:rect l="l" t="t" r="r" b="b"/>
            <a:pathLst>
              <a:path w="5596478" h="3700671">
                <a:moveTo>
                  <a:pt x="0" y="0"/>
                </a:moveTo>
                <a:lnTo>
                  <a:pt x="5596478" y="0"/>
                </a:lnTo>
                <a:lnTo>
                  <a:pt x="5596478" y="3700671"/>
                </a:lnTo>
                <a:lnTo>
                  <a:pt x="0" y="37006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62852" y="6574383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Cook’s Distance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High Cook's Distance: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One point (index ~90-100) is highly influential.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Majority Cluster: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Most points are near zero, indicating low influence.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Potential Impact: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One extreme point may skew model coefficients.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747" y="155392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159567">
            <a:off x="5019157" y="8039245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5161" y="3566903"/>
          <a:ext cx="8688839" cy="3933824"/>
        </p:xfrm>
        <a:graphic>
          <a:graphicData uri="http://schemas.openxmlformats.org/drawingml/2006/table">
            <a:tbl>
              <a:tblPr/>
              <a:tblGrid>
                <a:gridCol w="3747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8379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AIC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81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stepwise_model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5628.18184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81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stepwise_model_log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79.32107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81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stepwise_model_sqrt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2551.33110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10128450" y="2983103"/>
            <a:ext cx="7564306" cy="4860067"/>
          </a:xfrm>
          <a:custGeom>
            <a:avLst/>
            <a:gdLst/>
            <a:ahLst/>
            <a:cxnLst/>
            <a:rect l="l" t="t" r="r" b="b"/>
            <a:pathLst>
              <a:path w="7564306" h="4860067">
                <a:moveTo>
                  <a:pt x="0" y="0"/>
                </a:moveTo>
                <a:lnTo>
                  <a:pt x="7564306" y="0"/>
                </a:lnTo>
                <a:lnTo>
                  <a:pt x="7564306" y="4860067"/>
                </a:lnTo>
                <a:lnTo>
                  <a:pt x="0" y="4860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Transformation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55005" y="3044933"/>
            <a:ext cx="2711196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BoxCox Plot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562330">
            <a:off x="15020400" y="232046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856401" y="3040105"/>
            <a:ext cx="7152852" cy="1823977"/>
          </a:xfrm>
          <a:custGeom>
            <a:avLst/>
            <a:gdLst/>
            <a:ahLst/>
            <a:cxnLst/>
            <a:rect l="l" t="t" r="r" b="b"/>
            <a:pathLst>
              <a:path w="7152852" h="1823977">
                <a:moveTo>
                  <a:pt x="0" y="0"/>
                </a:moveTo>
                <a:lnTo>
                  <a:pt x="7152852" y="0"/>
                </a:lnTo>
                <a:lnTo>
                  <a:pt x="7152852" y="1823977"/>
                </a:lnTo>
                <a:lnTo>
                  <a:pt x="0" y="18239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856401" y="7881212"/>
            <a:ext cx="7097496" cy="993649"/>
          </a:xfrm>
          <a:custGeom>
            <a:avLst/>
            <a:gdLst/>
            <a:ahLst/>
            <a:cxnLst/>
            <a:rect l="l" t="t" r="r" b="b"/>
            <a:pathLst>
              <a:path w="7097496" h="993649">
                <a:moveTo>
                  <a:pt x="0" y="0"/>
                </a:moveTo>
                <a:lnTo>
                  <a:pt x="7097496" y="0"/>
                </a:lnTo>
                <a:lnTo>
                  <a:pt x="7097496" y="993649"/>
                </a:lnTo>
                <a:lnTo>
                  <a:pt x="0" y="993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14963" y="622346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2852" y="2148439"/>
            <a:ext cx="11058074" cy="3462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cs typeface="Futura Bold"/>
                <a:sym typeface="Futura Bold"/>
              </a:rPr>
              <a:t>Room Count and City Distance Impact on Prices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Room Count Effect: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More rooms initially lower prices, but eventually increase them significantly.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Distance Impact: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Distance slightly increases price after a point, but not a strong predictor.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No Interaction: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significant relationship between room count and distance.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2852" y="6574383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Impact of Property Type on Pricing Patterns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Property Type Matters: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Units and townhouses price differently by location.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Southern Metro Pricing: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Units are priced lower than houses and townhouses.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Land Size Impact: </a:t>
            </a: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Land size has less effect on unit prices compared to others.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399999">
            <a:off x="-4571437" y="1553082"/>
            <a:ext cx="7940516" cy="7940516"/>
          </a:xfrm>
          <a:custGeom>
            <a:avLst/>
            <a:gdLst/>
            <a:ahLst/>
            <a:cxnLst/>
            <a:rect l="l" t="t" r="r" b="b"/>
            <a:pathLst>
              <a:path w="7940516" h="7940516">
                <a:moveTo>
                  <a:pt x="0" y="0"/>
                </a:moveTo>
                <a:lnTo>
                  <a:pt x="7940516" y="0"/>
                </a:lnTo>
                <a:lnTo>
                  <a:pt x="7940516" y="7940517"/>
                </a:lnTo>
                <a:lnTo>
                  <a:pt x="0" y="7940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059294" y="3704443"/>
            <a:ext cx="6921457" cy="933847"/>
          </a:xfrm>
          <a:custGeom>
            <a:avLst/>
            <a:gdLst/>
            <a:ahLst/>
            <a:cxnLst/>
            <a:rect l="l" t="t" r="r" b="b"/>
            <a:pathLst>
              <a:path w="6921457" h="933847">
                <a:moveTo>
                  <a:pt x="0" y="0"/>
                </a:moveTo>
                <a:lnTo>
                  <a:pt x="6921458" y="0"/>
                </a:lnTo>
                <a:lnTo>
                  <a:pt x="6921458" y="933848"/>
                </a:lnTo>
                <a:lnTo>
                  <a:pt x="0" y="933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87796" y="7169935"/>
            <a:ext cx="6921457" cy="930303"/>
          </a:xfrm>
          <a:custGeom>
            <a:avLst/>
            <a:gdLst/>
            <a:ahLst/>
            <a:cxnLst/>
            <a:rect l="l" t="t" r="r" b="b"/>
            <a:pathLst>
              <a:path w="6921457" h="930303">
                <a:moveTo>
                  <a:pt x="0" y="0"/>
                </a:moveTo>
                <a:lnTo>
                  <a:pt x="6921457" y="0"/>
                </a:lnTo>
                <a:lnTo>
                  <a:pt x="6921457" y="930303"/>
                </a:lnTo>
                <a:lnTo>
                  <a:pt x="0" y="930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69691" y="2863013"/>
            <a:ext cx="10198063" cy="254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 Count and Its Effect on Prices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More bathrooms boost value in bigger, better homes.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small houses, extra bathrooms might hurt value.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Bathroom upgrades shine when paired with space and bedrooms.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2852" y="6574383"/>
            <a:ext cx="10990948" cy="1961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Room Count and Property Region Interaction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Extra rooms matter less in Southern Metro.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Adding rooms = smaller price boost down South.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Southern Metro buyers want more than just space.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59567">
            <a:off x="13952014" y="-383638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2"/>
                </a:lnTo>
                <a:lnTo>
                  <a:pt x="0" y="81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3728645">
            <a:off x="-3397469" y="7135396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8"/>
                </a:lnTo>
                <a:lnTo>
                  <a:pt x="0" y="6303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832959" y="3224481"/>
            <a:ext cx="8622082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09347" y="3238769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91419" y="6943227"/>
            <a:ext cx="1057504" cy="105750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96039" y="1811692"/>
            <a:ext cx="9895922" cy="110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1"/>
              </a:lnSpc>
            </a:pPr>
            <a:r>
              <a:rPr lang="en-US" sz="70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38238" y="3817754"/>
            <a:ext cx="11315962" cy="45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</a:t>
            </a:r>
            <a:r>
              <a:rPr lang="en-US" sz="3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fit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 = predicted house price (mean prediction from the model).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38238" y="4621530"/>
            <a:ext cx="1085372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</a:t>
            </a:r>
            <a:r>
              <a:rPr lang="en-US" sz="3000" b="1" dirty="0" err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lwr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 = lower bound of the prediction interval.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38238" y="5429250"/>
            <a:ext cx="1085372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</a:t>
            </a: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upr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 = upper bound of the prediction interval.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38238" y="6236970"/>
            <a:ext cx="1085372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predicted price of first house is </a:t>
            </a: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$1,005,246.80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38238" y="7044690"/>
            <a:ext cx="11315962" cy="45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95% prediction interval (</a:t>
            </a:r>
            <a:r>
              <a:rPr lang="en-US" sz="3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$578,409.90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and </a:t>
            </a:r>
            <a:r>
              <a:rPr lang="en-US" sz="3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$1,747,068.00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747" y="155392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159567">
            <a:off x="5019157" y="8039245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8653" y="248948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House size and features drive price: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Larger homes with more bedrooms, bathrooms, and bigger areas command higher prices.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8653" y="388775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Bathrooms add value strategically: 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Extra bathrooms boost price mainly in larger houses, but can hurt smaller ones.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8653" y="528602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Location matters: 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Southern Metro region shows a weaker price impact from adding rooms compared to other areas.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8653" y="668429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Model performance: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The final model explains about 83% of the variation in house prices, showing strong predictive 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747" y="155392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159567">
            <a:off x="5019157" y="8039245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Takeaways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8653" y="248948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Home Features Matter: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Larger homes with more bedrooms and bathrooms generally command higher prices.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8653" y="388775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Bathrooms Impact Value: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Extra bathrooms add value to larger homes but can reduce value in smaller ones.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8653" y="528602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Regional Differences: 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Southern Metro area shows a weaker price impact from added rooms compared to other regions.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1349788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143526" y="7597308"/>
            <a:ext cx="8233265" cy="8233265"/>
          </a:xfrm>
          <a:custGeom>
            <a:avLst/>
            <a:gdLst/>
            <a:ahLst/>
            <a:cxnLst/>
            <a:rect l="l" t="t" r="r" b="b"/>
            <a:pathLst>
              <a:path w="8233265" h="8233265">
                <a:moveTo>
                  <a:pt x="0" y="0"/>
                </a:moveTo>
                <a:lnTo>
                  <a:pt x="8233265" y="0"/>
                </a:lnTo>
                <a:lnTo>
                  <a:pt x="8233265" y="8233265"/>
                </a:lnTo>
                <a:lnTo>
                  <a:pt x="0" y="8233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80388" y="1346208"/>
            <a:ext cx="1740378" cy="1769331"/>
          </a:xfrm>
          <a:custGeom>
            <a:avLst/>
            <a:gdLst/>
            <a:ahLst/>
            <a:cxnLst/>
            <a:rect l="l" t="t" r="r" b="b"/>
            <a:pathLst>
              <a:path w="1740378" h="1769331">
                <a:moveTo>
                  <a:pt x="0" y="0"/>
                </a:moveTo>
                <a:lnTo>
                  <a:pt x="1740378" y="0"/>
                </a:lnTo>
                <a:lnTo>
                  <a:pt x="1740378" y="1769331"/>
                </a:lnTo>
                <a:lnTo>
                  <a:pt x="0" y="1769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448701" y="6288865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592828" y="4803910"/>
            <a:ext cx="7122369" cy="1408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80"/>
              </a:lnSpc>
            </a:pPr>
            <a:r>
              <a:rPr lang="en-US" sz="90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8" name="AutoShape 8"/>
          <p:cNvSpPr/>
          <p:nvPr/>
        </p:nvSpPr>
        <p:spPr>
          <a:xfrm>
            <a:off x="1592828" y="1346208"/>
            <a:ext cx="2494042" cy="0"/>
          </a:xfrm>
          <a:prstGeom prst="line">
            <a:avLst/>
          </a:prstGeom>
          <a:ln w="6477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53755" y="1111258"/>
            <a:ext cx="1772188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4420" y="6230935"/>
            <a:ext cx="623365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Do you have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848</Words>
  <Application>Microsoft Macintosh PowerPoint</Application>
  <PresentationFormat>Custom</PresentationFormat>
  <Paragraphs>131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League Spartan</vt:lpstr>
      <vt:lpstr>Futura Bold</vt:lpstr>
      <vt:lpstr>Futura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professional corporate Marketing Plan charts and graphs presentation</dc:title>
  <cp:lastModifiedBy>Bisoi, Krishna Kumar</cp:lastModifiedBy>
  <cp:revision>18</cp:revision>
  <dcterms:created xsi:type="dcterms:W3CDTF">2006-08-16T00:00:00Z</dcterms:created>
  <dcterms:modified xsi:type="dcterms:W3CDTF">2025-04-28T23:44:54Z</dcterms:modified>
  <dc:identifier>DAGl4G1hS8w</dc:identifier>
</cp:coreProperties>
</file>